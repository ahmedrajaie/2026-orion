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888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4B788-CED7-BD95-FAE5-F9CFC0A54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576A2-85BE-0E49-5EE6-7F1EF4055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56F23-E0FB-CC78-766F-6D54B083F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7774E-81C0-85B3-6B45-A3A6151BE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41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1B8DA-3A3D-24CA-2D16-4B86B908D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588CBB-44C3-C44D-B033-9BD7337B566D}"/>
              </a:ext>
            </a:extLst>
          </p:cNvPr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Week1 – Day 1</a:t>
            </a:r>
            <a:endParaRPr lang="en-US" sz="1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3864A46-A88F-0971-A010-DF854898D362}"/>
              </a:ext>
            </a:extLst>
          </p:cNvPr>
          <p:cNvSpPr/>
          <p:nvPr/>
        </p:nvSpPr>
        <p:spPr>
          <a:xfrm>
            <a:off x="548640" y="731520"/>
            <a:ext cx="914400" cy="9144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D42FB33-C377-5D1D-7F3C-B736C9738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69264"/>
            <a:ext cx="438912" cy="43891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A5C08C4-F9AC-F534-C6BB-33290E960BDE}"/>
              </a:ext>
            </a:extLst>
          </p:cNvPr>
          <p:cNvSpPr/>
          <p:nvPr/>
        </p:nvSpPr>
        <p:spPr>
          <a:xfrm>
            <a:off x="1737360" y="777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</a:rPr>
              <a:t>Charting Basics</a:t>
            </a:r>
            <a:endParaRPr lang="en-US" sz="32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74C9649-6C80-871C-C9D7-A506BDF0B7F9}"/>
              </a:ext>
            </a:extLst>
          </p:cNvPr>
          <p:cNvSpPr/>
          <p:nvPr/>
        </p:nvSpPr>
        <p:spPr>
          <a:xfrm>
            <a:off x="640080" y="23774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C701E77-8B3B-7A86-0E45-5B960B48B6A9}"/>
              </a:ext>
            </a:extLst>
          </p:cNvPr>
          <p:cNvSpPr/>
          <p:nvPr/>
        </p:nvSpPr>
        <p:spPr>
          <a:xfrm>
            <a:off x="1280160" y="2322576"/>
            <a:ext cx="1027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Tradingview.com (charts, indicators, drawings)</a:t>
            </a:r>
            <a:endParaRPr lang="en-US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99AE114-5D34-E25D-440A-319B0E6888D1}"/>
              </a:ext>
            </a:extLst>
          </p:cNvPr>
          <p:cNvSpPr/>
          <p:nvPr/>
        </p:nvSpPr>
        <p:spPr>
          <a:xfrm>
            <a:off x="640080" y="4600031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89F84C-DF09-3197-3F8C-98AD4633E7B6}"/>
              </a:ext>
            </a:extLst>
          </p:cNvPr>
          <p:cNvSpPr/>
          <p:nvPr/>
        </p:nvSpPr>
        <p:spPr>
          <a:xfrm>
            <a:off x="1280160" y="4545167"/>
            <a:ext cx="5569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debug mode to step inside all functions</a:t>
            </a:r>
            <a:endParaRPr lang="en-US" sz="18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D809959-2BF5-D0FE-D92B-616599F47C62}"/>
              </a:ext>
            </a:extLst>
          </p:cNvPr>
          <p:cNvSpPr/>
          <p:nvPr/>
        </p:nvSpPr>
        <p:spPr>
          <a:xfrm>
            <a:off x="7669530" y="3896487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553A8F6-78E4-5D43-5B1D-44F550FFC5CC}"/>
              </a:ext>
            </a:extLst>
          </p:cNvPr>
          <p:cNvSpPr/>
          <p:nvPr/>
        </p:nvSpPr>
        <p:spPr>
          <a:xfrm>
            <a:off x="8309610" y="3841623"/>
            <a:ext cx="29028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OHLCV (Open High Low Close Volume) candles</a:t>
            </a:r>
            <a:endParaRPr lang="en-US" sz="18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D5BEBC5-F1A6-E225-46B8-215DBD0DC388}"/>
              </a:ext>
            </a:extLst>
          </p:cNvPr>
          <p:cNvSpPr/>
          <p:nvPr/>
        </p:nvSpPr>
        <p:spPr>
          <a:xfrm>
            <a:off x="7669530" y="4762137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C5CA577-23CD-C881-1002-B75A2BA29BFC}"/>
              </a:ext>
            </a:extLst>
          </p:cNvPr>
          <p:cNvSpPr/>
          <p:nvPr/>
        </p:nvSpPr>
        <p:spPr>
          <a:xfrm>
            <a:off x="8309610" y="4707273"/>
            <a:ext cx="29028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trend lines to the chart</a:t>
            </a:r>
            <a:endParaRPr lang="en-US" sz="18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316B2DD3-3437-BF54-27F5-CFB9FB7A65B5}"/>
              </a:ext>
            </a:extLst>
          </p:cNvPr>
          <p:cNvSpPr/>
          <p:nvPr/>
        </p:nvSpPr>
        <p:spPr>
          <a:xfrm>
            <a:off x="640080" y="3895943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0C69272-FD15-206C-B831-4549B3E57625}"/>
              </a:ext>
            </a:extLst>
          </p:cNvPr>
          <p:cNvSpPr/>
          <p:nvPr/>
        </p:nvSpPr>
        <p:spPr>
          <a:xfrm>
            <a:off x="1280160" y="3841079"/>
            <a:ext cx="5569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week1/01-setup-and-data and run the first notebook</a:t>
            </a:r>
            <a:endParaRPr lang="en-US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2C40922F-C4BE-9D3F-AB6E-5BEAD159A8D4}"/>
              </a:ext>
            </a:extLst>
          </p:cNvPr>
          <p:cNvSpPr/>
          <p:nvPr/>
        </p:nvSpPr>
        <p:spPr>
          <a:xfrm>
            <a:off x="7669530" y="23774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16F0954A-A6F4-BA13-3C20-5AE657F083F9}"/>
              </a:ext>
            </a:extLst>
          </p:cNvPr>
          <p:cNvSpPr/>
          <p:nvPr/>
        </p:nvSpPr>
        <p:spPr>
          <a:xfrm>
            <a:off x="8309610" y="2193417"/>
            <a:ext cx="3148965" cy="1363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material: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learn\01-stock-market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learn\02-algo-trading</a:t>
            </a:r>
            <a:endParaRPr lang="en-US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48EB3D44-C046-AEE6-E552-74E700806ED1}"/>
              </a:ext>
            </a:extLst>
          </p:cNvPr>
          <p:cNvSpPr/>
          <p:nvPr/>
        </p:nvSpPr>
        <p:spPr>
          <a:xfrm>
            <a:off x="640080" y="3164395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620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B5F222F8-702A-6784-A606-AE8B920283DE}"/>
              </a:ext>
            </a:extLst>
          </p:cNvPr>
          <p:cNvSpPr/>
          <p:nvPr/>
        </p:nvSpPr>
        <p:spPr>
          <a:xfrm>
            <a:off x="1280160" y="3109531"/>
            <a:ext cx="5569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walk through: Debug, Source Control, Extensions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55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68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Raslan, Ahmed</cp:lastModifiedBy>
  <cp:revision>12</cp:revision>
  <dcterms:created xsi:type="dcterms:W3CDTF">2026-08-01T11:03:33Z</dcterms:created>
  <dcterms:modified xsi:type="dcterms:W3CDTF">2026-08-01T15:08:14Z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f0cd77-92b6-43b5-be4e-5947453e124f_Enabled">
    <vt:lpwstr>true</vt:lpwstr>
  </property>
  <property fmtid="{D5CDD505-2E9C-101B-9397-08002B2CF9AE}" pid="3" name="MSIP_Label_a6f0cd77-92b6-43b5-be4e-5947453e124f_SetDate">
    <vt:lpwstr>2026-08-01T11:19:33Z</vt:lpwstr>
  </property>
  <property fmtid="{D5CDD505-2E9C-101B-9397-08002B2CF9AE}" pid="4" name="MSIP_Label_a6f0cd77-92b6-43b5-be4e-5947453e124f_Method">
    <vt:lpwstr>Standard</vt:lpwstr>
  </property>
  <property fmtid="{D5CDD505-2E9C-101B-9397-08002B2CF9AE}" pid="5" name="MSIP_Label_a6f0cd77-92b6-43b5-be4e-5947453e124f_Name">
    <vt:lpwstr>EFGH_Confidential</vt:lpwstr>
  </property>
  <property fmtid="{D5CDD505-2E9C-101B-9397-08002B2CF9AE}" pid="6" name="MSIP_Label_a6f0cd77-92b6-43b5-be4e-5947453e124f_SiteId">
    <vt:lpwstr>0d301d27-a051-41b8-b1ac-6de8b154a76e</vt:lpwstr>
  </property>
  <property fmtid="{D5CDD505-2E9C-101B-9397-08002B2CF9AE}" pid="7" name="MSIP_Label_a6f0cd77-92b6-43b5-be4e-5947453e124f_ActionId">
    <vt:lpwstr>5a248873-7a52-43f3-ae19-a0c9e93b426f</vt:lpwstr>
  </property>
  <property fmtid="{D5CDD505-2E9C-101B-9397-08002B2CF9AE}" pid="8" name="MSIP_Label_a6f0cd77-92b6-43b5-be4e-5947453e124f_ContentBits">
    <vt:lpwstr>0</vt:lpwstr>
  </property>
  <property fmtid="{D5CDD505-2E9C-101B-9397-08002B2CF9AE}" pid="9" name="MSIP_Label_a6f0cd77-92b6-43b5-be4e-5947453e124f_Tag">
    <vt:lpwstr>10, 3, 0, 1</vt:lpwstr>
  </property>
</Properties>
</file>